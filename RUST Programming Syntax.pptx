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PT Sans Narrow"/>
      <p:regular r:id="rId40"/>
      <p:bold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Narrow-regular.fntdata"/><Relationship Id="rId20" Type="http://schemas.openxmlformats.org/officeDocument/2006/relationships/slide" Target="slides/slide15.xml"/><Relationship Id="rId42" Type="http://schemas.openxmlformats.org/officeDocument/2006/relationships/font" Target="fonts/OpenSans-regular.fntdata"/><Relationship Id="rId41" Type="http://schemas.openxmlformats.org/officeDocument/2006/relationships/font" Target="fonts/PTSansNarrow-bold.fntdata"/><Relationship Id="rId22" Type="http://schemas.openxmlformats.org/officeDocument/2006/relationships/slide" Target="slides/slide17.xml"/><Relationship Id="rId44" Type="http://schemas.openxmlformats.org/officeDocument/2006/relationships/font" Target="fonts/OpenSans-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bold.fntdata"/><Relationship Id="rId14" Type="http://schemas.openxmlformats.org/officeDocument/2006/relationships/slide" Target="slides/slide9.xml"/><Relationship Id="rId36" Type="http://schemas.openxmlformats.org/officeDocument/2006/relationships/font" Target="fonts/Robot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be7125f52b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be7125f52b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be7125f52b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be7125f52b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be7125f52b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be7125f52b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be7125f52b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be7125f52b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be7125f52b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be7125f52b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be7125f52b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be7125f52b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e7125f52b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be7125f52b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e7125f52b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be7125f52b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e7125f52b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be7125f52b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be7125f52b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be7125f52b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be7125f52b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be7125f52b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be7125f52b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be7125f52b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e7125f52b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be7125f52b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be7125f52b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be7125f52b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be7125f52b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be7125f52b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be7125f52b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be7125f52b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be7125f52b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be7125f52b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be7125f52b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be7125f52b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be7125f52b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be7125f52b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be7125f52b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be7125f52b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be7125f52b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be7125f52b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be7125f52b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be7125f52b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e7125f52b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be7125f52b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e7125f52b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e7125f52b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be7125f52b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be7125f52b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be7125f52b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be7125f52b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be7125f52b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be7125f52b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be7125f52b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be7125f52b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be7125f52b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be7125f52b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quickref.me/rust.html#rust-type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.rust-lang.org/reference/comments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quickref.me/rust.html#rust-function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quickref.me/rust.html#rust-string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RUST Programming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C</a:t>
            </a:r>
            <a:r>
              <a:rPr lang="en"/>
              <a:t>oding</a:t>
            </a:r>
            <a:r>
              <a:rPr lang="en"/>
              <a:t> Syntax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70300" y="168925"/>
            <a:ext cx="6521400" cy="438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50">
              <a:solidFill>
                <a:srgbClr val="000000"/>
              </a:solidFill>
              <a:highlight>
                <a:srgbClr val="F1F5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270300" y="1118150"/>
            <a:ext cx="43017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8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8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8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8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"Hello, World!"</a:t>
            </a:r>
            <a:r>
              <a:rPr lang="en" sz="18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Compiling and Running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" sz="18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rustc Hello_World.rs</a:t>
            </a:r>
            <a:endParaRPr sz="18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" sz="18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./Hello_World</a:t>
            </a:r>
            <a:endParaRPr sz="18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Hello, World!</a:t>
            </a:r>
            <a:endParaRPr sz="18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1689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Started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 Types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8520600" cy="3592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endParaRPr sz="13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Boolean (</a:t>
            </a: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00">
                <a:solidFill>
                  <a:srgbClr val="55667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endParaRPr sz="13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endParaRPr sz="13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character</a:t>
            </a:r>
            <a:endParaRPr sz="13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f32</a:t>
            </a: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f64</a:t>
            </a:r>
            <a:endParaRPr sz="13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32-bits, 64-bits floats</a:t>
            </a:r>
            <a:endParaRPr sz="13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i64</a:t>
            </a: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i16</a:t>
            </a: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i8</a:t>
            </a:r>
            <a:endParaRPr sz="13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signed 16- ... integers</a:t>
            </a:r>
            <a:endParaRPr sz="13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u64</a:t>
            </a: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u32</a:t>
            </a: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u16</a:t>
            </a: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u8</a:t>
            </a:r>
            <a:endParaRPr sz="13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unsigned 16-bits, ... integers</a:t>
            </a:r>
            <a:endParaRPr sz="13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isize</a:t>
            </a:r>
            <a:endParaRPr sz="13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pointer-sized signed integers</a:t>
            </a:r>
            <a:endParaRPr sz="13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usize</a:t>
            </a:r>
            <a:endParaRPr sz="13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pointer-sized unsigned integers</a:t>
            </a:r>
            <a:endParaRPr sz="13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See: </a:t>
            </a:r>
            <a:r>
              <a:rPr lang="en" sz="1300">
                <a:solidFill>
                  <a:srgbClr val="334455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Rust Types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Formatting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062925"/>
            <a:ext cx="8520600" cy="3865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59669"/>
                </a:solidFill>
              </a:rPr>
              <a:t>Single Placeholder </a:t>
            </a:r>
            <a:r>
              <a:rPr lang="en" sz="5000"/>
              <a:t>&gt;&gt;&gt;&gt;&gt;&gt;&gt;&gt;&gt;&gt;&gt;  println!("{}", 1);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/>
              <a:t> </a:t>
            </a:r>
            <a:r>
              <a:rPr lang="en" sz="5000">
                <a:solidFill>
                  <a:srgbClr val="059669"/>
                </a:solidFill>
              </a:rPr>
              <a:t>Multiple Placeholder</a:t>
            </a:r>
            <a:r>
              <a:rPr lang="en" sz="5000"/>
              <a:t>&gt;&gt;&gt;&gt;&gt;&gt;&gt;&gt;&gt;  println!("{} {}", 1, 3);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59669"/>
                </a:solidFill>
              </a:rPr>
              <a:t>Positional Arguments</a:t>
            </a:r>
            <a:r>
              <a:rPr lang="en" sz="5000"/>
              <a:t> &gt;&gt;&gt;&gt;&gt;&gt;&gt;&gt; println!("{0} is {1} {2}, also {0} is a {3} programming language", "Rust", "cool", "language", "safe");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/>
              <a:t> </a:t>
            </a:r>
            <a:r>
              <a:rPr lang="en" sz="5000">
                <a:solidFill>
                  <a:srgbClr val="059669"/>
                </a:solidFill>
              </a:rPr>
              <a:t>Named Arguments </a:t>
            </a:r>
            <a:r>
              <a:rPr lang="en" sz="5000"/>
              <a:t>&gt;&gt;&gt;&gt;&gt;&gt;&gt;&gt;&gt;&gt; println!("{country} is a diverse nation with unity.", country = "India");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59669"/>
                </a:solidFill>
              </a:rPr>
              <a:t>Placeholder traits :b for binary, :0x is for hex and :o is octal</a:t>
            </a:r>
            <a:endParaRPr sz="5000">
              <a:solidFill>
                <a:srgbClr val="05966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/>
              <a:t>println!("Let us print 76 is binary which is {:b} , and hex equivalent is {:0x} and octal equivalent is {:o}", 76, 76, 76);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59669"/>
                </a:solidFill>
              </a:rPr>
              <a:t>Debug Trait </a:t>
            </a:r>
            <a:r>
              <a:rPr lang="en" sz="5000"/>
              <a:t>&gt;&gt;&gt;&gt;&gt;&gt;&gt;&gt;&gt;&gt;&gt;&gt; println!("Print whatever we want to here using debug trait {:?}", (76, 'A', 90));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59669"/>
                </a:solidFill>
              </a:rPr>
              <a:t>New Format Strings in 1.58</a:t>
            </a:r>
            <a:endParaRPr sz="5000">
              <a:solidFill>
                <a:srgbClr val="05966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/>
              <a:t>let x = "world";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/>
              <a:t>println!("Hello {x}!");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87" name="Google Shape;87;p16"/>
          <p:cNvSpPr txBox="1"/>
          <p:nvPr/>
        </p:nvSpPr>
        <p:spPr>
          <a:xfrm>
            <a:off x="1587500" y="1766950"/>
            <a:ext cx="7578600" cy="461700"/>
          </a:xfrm>
          <a:prstGeom prst="rect">
            <a:avLst/>
          </a:prstGeom>
          <a:noFill/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 Styles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335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Prints the output</a:t>
            </a:r>
            <a:endParaRPr sz="13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3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print!</a:t>
            </a:r>
            <a:r>
              <a:rPr lang="en" sz="13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3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"Hello World\n"</a:t>
            </a:r>
            <a:r>
              <a:rPr lang="en" sz="13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335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Appends a new line after printing</a:t>
            </a:r>
            <a:endParaRPr sz="13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3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3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3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"Appending a new line"</a:t>
            </a:r>
            <a:r>
              <a:rPr lang="en" sz="13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335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Prints as an error</a:t>
            </a:r>
            <a:endParaRPr sz="13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3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eprint!(</a:t>
            </a:r>
            <a:r>
              <a:rPr lang="en" sz="133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"This is an error\n"</a:t>
            </a:r>
            <a:r>
              <a:rPr lang="en" sz="13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335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Prints as an error with new line</a:t>
            </a:r>
            <a:endParaRPr sz="13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3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eprintln!(</a:t>
            </a:r>
            <a:r>
              <a:rPr lang="en" sz="133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"This is an error with new line"</a:t>
            </a:r>
            <a:r>
              <a:rPr lang="en" sz="13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92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Initializing and declaring a variable</a:t>
            </a:r>
            <a:endParaRPr sz="15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some_variable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5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"This_is_a_variable"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Making a variable mutable</a:t>
            </a:r>
            <a:endParaRPr sz="15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5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mutable_variable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5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"Mutable"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Assigning multiple variables</a:t>
            </a:r>
            <a:endParaRPr sz="15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(name, age) = (</a:t>
            </a:r>
            <a:r>
              <a:rPr lang="en" sz="15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"ElementalX"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(Global) constant</a:t>
            </a:r>
            <a:endParaRPr sz="15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SCREAMING_SNAKE_CASE:</a:t>
            </a:r>
            <a:r>
              <a:rPr lang="en" sz="15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i64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5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56E77"/>
                </a:solidFill>
                <a:latin typeface="Courier New"/>
                <a:ea typeface="Courier New"/>
                <a:cs typeface="Courier New"/>
                <a:sym typeface="Courier New"/>
              </a:rPr>
              <a:t>// Line Comments</a:t>
            </a:r>
            <a:endParaRPr sz="24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56E77"/>
                </a:solidFill>
                <a:latin typeface="Courier New"/>
                <a:ea typeface="Courier New"/>
                <a:cs typeface="Courier New"/>
                <a:sym typeface="Courier New"/>
              </a:rPr>
              <a:t>/*.............Block Comments */</a:t>
            </a:r>
            <a:endParaRPr sz="24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56E77"/>
                </a:solidFill>
                <a:latin typeface="Courier New"/>
                <a:ea typeface="Courier New"/>
                <a:cs typeface="Courier New"/>
                <a:sym typeface="Courier New"/>
              </a:rPr>
              <a:t>/// Outer doc comments</a:t>
            </a:r>
            <a:endParaRPr sz="24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56E77"/>
                </a:solidFill>
                <a:latin typeface="Courier New"/>
                <a:ea typeface="Courier New"/>
                <a:cs typeface="Courier New"/>
                <a:sym typeface="Courier New"/>
              </a:rPr>
              <a:t>//! Inner doc comments</a:t>
            </a:r>
            <a:endParaRPr sz="24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See: </a:t>
            </a:r>
            <a:r>
              <a:rPr lang="en" sz="1700">
                <a:solidFill>
                  <a:srgbClr val="334455"/>
                </a:solidFill>
                <a:highlight>
                  <a:srgbClr val="F8F9FA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Comment</a:t>
            </a:r>
            <a:endParaRPr sz="1700">
              <a:solidFill>
                <a:srgbClr val="334455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"This is a function!"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See: </a:t>
            </a:r>
            <a:r>
              <a:rPr lang="en" sz="1600">
                <a:solidFill>
                  <a:srgbClr val="334455"/>
                </a:solidFill>
                <a:highlight>
                  <a:srgbClr val="F8F9FA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Functions</a:t>
            </a:r>
            <a:endParaRPr sz="1600">
              <a:solidFill>
                <a:srgbClr val="334455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 , Floating, Boolean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377325"/>
            <a:ext cx="2173200" cy="320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u32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u64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877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i64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8999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-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90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000"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2584200" y="1377325"/>
            <a:ext cx="3315900" cy="320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4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sixty_bit_float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f64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89.90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thirty_two_bit_float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f32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7.90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just_a_float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69.69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00">
              <a:solidFill>
                <a:srgbClr val="01569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5991075" y="1377300"/>
            <a:ext cx="2841300" cy="320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true_val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false_val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just_a_bool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is_true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r>
              <a:rPr lang="en" sz="14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false</a:t>
            </a:r>
            <a:endParaRPr sz="700">
              <a:solidFill>
                <a:srgbClr val="01569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And String Literals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266325"/>
            <a:ext cx="41886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first_letter_of_alphabet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6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explicit_char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6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6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'F'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implicit_char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6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'8'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emoji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6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"\u{1f600}"</a:t>
            </a:r>
            <a:r>
              <a:rPr lang="en" sz="16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  </a:t>
            </a:r>
            <a:r>
              <a:rPr lang="en" sz="16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😀</a:t>
            </a:r>
            <a:endParaRPr sz="2300"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4702025" y="1266325"/>
            <a:ext cx="41886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20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community_name</a:t>
            </a:r>
            <a:r>
              <a:rPr lang="en" sz="20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20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"AXIAL"</a:t>
            </a:r>
            <a:r>
              <a:rPr lang="en" sz="20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0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20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0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no_of_members</a:t>
            </a:r>
            <a:r>
              <a:rPr lang="en" sz="20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: &amp;</a:t>
            </a:r>
            <a:r>
              <a:rPr lang="en" sz="20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" sz="20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20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"ten"</a:t>
            </a:r>
            <a:r>
              <a:rPr lang="en" sz="20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0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20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20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"The name of the community is {community_name} and it has {no_of_members} members"</a:t>
            </a:r>
            <a:r>
              <a:rPr lang="en" sz="20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0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See: </a:t>
            </a:r>
            <a:r>
              <a:rPr lang="en" sz="2000">
                <a:solidFill>
                  <a:srgbClr val="334455"/>
                </a:solidFill>
                <a:highlight>
                  <a:srgbClr val="F8F9FA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Strings</a:t>
            </a:r>
            <a:endParaRPr sz="2000">
              <a:solidFill>
                <a:srgbClr val="334455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rgbClr val="01569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Arrays, </a:t>
            </a:r>
            <a:r>
              <a:rPr lang="en"/>
              <a:t>Multidimensional</a:t>
            </a:r>
            <a:r>
              <a:rPr lang="en"/>
              <a:t> Arrays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266325"/>
            <a:ext cx="38157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┌─────┬─────┬─────┬─────┬─────┬─────┐</a:t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|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98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99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98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94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</a:t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└─────┴─────┴─────┴─────┴─────┴─────┘</a:t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i64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98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99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98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6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94</a:t>
            </a:r>
            <a:r>
              <a:rPr lang="en" sz="16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6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 txBox="1"/>
          <p:nvPr/>
        </p:nvSpPr>
        <p:spPr>
          <a:xfrm>
            <a:off x="4265550" y="1261025"/>
            <a:ext cx="4362300" cy="335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j0   j1   j2   j3   j4   j5</a:t>
            </a:r>
            <a:endParaRPr sz="981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 ┌────┬────┬────┬────┬────┬────┐</a:t>
            </a:r>
            <a:endParaRPr sz="981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i0 |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</a:t>
            </a:r>
            <a:endParaRPr sz="981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 ├────┼────┼────┼────┼────┼────┤</a:t>
            </a:r>
            <a:endParaRPr sz="981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i1 |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|</a:t>
            </a:r>
            <a:endParaRPr sz="981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 └────┴────┴────┴────┴────┴────┘</a:t>
            </a:r>
            <a:endParaRPr sz="981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81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81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: [[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i64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] ;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endParaRPr sz="981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[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981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[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981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981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]];</a:t>
            </a:r>
            <a:endParaRPr sz="981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Mutable Arrays and Slices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266325"/>
            <a:ext cx="4023000" cy="3468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7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" sz="17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; </a:t>
            </a:r>
            <a:r>
              <a:rPr lang="en" sz="17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lang="en" sz="17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7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7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7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array[</a:t>
            </a:r>
            <a:r>
              <a:rPr lang="en" sz="17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" sz="17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array[</a:t>
            </a:r>
            <a:r>
              <a:rPr lang="en" sz="17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" sz="17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Use the </a:t>
            </a:r>
            <a:r>
              <a:rPr lang="en" sz="1700">
                <a:solidFill>
                  <a:srgbClr val="059669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7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 keyword to make it mutable.</a:t>
            </a:r>
            <a:endParaRPr sz="1700">
              <a:solidFill>
                <a:srgbClr val="334455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4572000" y="1266425"/>
            <a:ext cx="4169100" cy="3468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 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i64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slices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&amp;[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i64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&amp;array[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13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Lower range is inclusive and upper range is exclusive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"The elements of the slices are : {slices:?}"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1569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, Tuples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266325"/>
            <a:ext cx="39540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5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some_vector</a:t>
            </a:r>
            <a:r>
              <a:rPr lang="en" sz="15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5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vec!</a:t>
            </a:r>
            <a:r>
              <a:rPr lang="en" sz="15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5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5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5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5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5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5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5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5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5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]; </a:t>
            </a:r>
            <a:endParaRPr sz="15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A vector is declared using the </a:t>
            </a:r>
            <a:r>
              <a:rPr lang="en" sz="1500">
                <a:solidFill>
                  <a:srgbClr val="059669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vec!</a:t>
            </a:r>
            <a:r>
              <a:rPr lang="en" sz="15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 macro.</a:t>
            </a:r>
            <a:endParaRPr sz="1500">
              <a:solidFill>
                <a:srgbClr val="334455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4572000" y="1266325"/>
            <a:ext cx="39540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tuple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,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"Cool"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78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Strings: Literals,Objects, .Capacity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418725"/>
            <a:ext cx="23664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cs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:&amp;</a:t>
            </a:r>
            <a:r>
              <a:rPr lang="en" sz="12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2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"cheat sheet"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Share cheat sheet for developers</a:t>
            </a:r>
            <a:endParaRPr sz="12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"Share {cs} for developers"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900"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2788475" y="1418725"/>
            <a:ext cx="35505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Creating an empty string object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my_string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::new;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Converting to a string object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S_string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a_string.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to_string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Creating an initialized string object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"Rust"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 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"First language is {lang}"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6465900" y="1418725"/>
            <a:ext cx="23664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rand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2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2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"Random String"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rand.</a:t>
            </a:r>
            <a:r>
              <a:rPr lang="en" sz="12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capacity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()  </a:t>
            </a:r>
            <a:r>
              <a:rPr lang="en" sz="1200">
                <a:solidFill>
                  <a:srgbClr val="656E77"/>
                </a:solidFill>
                <a:latin typeface="Courier New"/>
                <a:ea typeface="Courier New"/>
                <a:cs typeface="Courier New"/>
                <a:sym typeface="Courier New"/>
              </a:rPr>
              <a:t>// =&gt; 13</a:t>
            </a:r>
            <a:endParaRPr sz="12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Calculates the capacity of the string in bytes.</a:t>
            </a:r>
            <a:endParaRPr sz="1200">
              <a:solidFill>
                <a:srgbClr val="334455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Strings: .contains(),Push Single-Char, Push Entire String</a:t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311700" y="1418725"/>
            <a:ext cx="23664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3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3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"ElementalX"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name.</a:t>
            </a:r>
            <a:r>
              <a:rPr lang="en" sz="13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contains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"Element"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300">
                <a:solidFill>
                  <a:srgbClr val="656E77"/>
                </a:solidFill>
                <a:latin typeface="Courier New"/>
                <a:ea typeface="Courier New"/>
                <a:cs typeface="Courier New"/>
                <a:sym typeface="Courier New"/>
              </a:rPr>
              <a:t>// =&gt; true</a:t>
            </a:r>
            <a:endParaRPr sz="13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Checks if the substring is contained inside the original string or not.</a:t>
            </a:r>
            <a:endParaRPr sz="1300">
              <a:solidFill>
                <a:srgbClr val="334455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1569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2788475" y="1418725"/>
            <a:ext cx="27678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5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half_text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5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5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"Hal"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half_text.</a:t>
            </a:r>
            <a:r>
              <a:rPr lang="en" sz="15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'f'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   </a:t>
            </a:r>
            <a:r>
              <a:rPr lang="en" sz="15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Half</a:t>
            </a:r>
            <a:endParaRPr sz="1500">
              <a:solidFill>
                <a:srgbClr val="656E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5687400" y="1418725"/>
            <a:ext cx="31449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hi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"Hey there..."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hi.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push_str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"How are you doing??"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Hey there...How are you doing??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"{hi}"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01569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Operators</a:t>
            </a:r>
            <a:r>
              <a:rPr lang="en"/>
              <a:t> : </a:t>
            </a:r>
            <a:r>
              <a:rPr lang="en"/>
              <a:t>Comparisons</a:t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266325"/>
            <a:ext cx="38571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8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 == f			e</a:t>
            </a:r>
            <a:r>
              <a:rPr lang="en" sz="1408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equal to </a:t>
            </a:r>
            <a:r>
              <a:rPr lang="en" sz="1408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sz="1408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8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 != f			e</a:t>
            </a:r>
            <a:r>
              <a:rPr lang="en" sz="1408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NOT equal to </a:t>
            </a:r>
            <a:r>
              <a:rPr lang="en" sz="1408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sz="1408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8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 &lt; f			e</a:t>
            </a:r>
            <a:r>
              <a:rPr lang="en" sz="1408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less than </a:t>
            </a:r>
            <a:r>
              <a:rPr lang="en" sz="1408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sz="1408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8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 &gt; f			e</a:t>
            </a:r>
            <a:r>
              <a:rPr lang="en" sz="1408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greater </a:t>
            </a:r>
            <a:r>
              <a:rPr lang="en" sz="1408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sz="1408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8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 &lt;= f		e</a:t>
            </a:r>
            <a:r>
              <a:rPr lang="en" sz="1408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less than or equal to </a:t>
            </a:r>
            <a:r>
              <a:rPr lang="en" sz="1408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sz="1408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8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 &gt;= f		e</a:t>
            </a:r>
            <a:r>
              <a:rPr lang="en" sz="1408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greater or equal to </a:t>
            </a:r>
            <a:r>
              <a:rPr lang="en" sz="1408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sz="1408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4375975" y="1266325"/>
            <a:ext cx="44565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(e, f) = (</a:t>
            </a:r>
            <a:r>
              <a:rPr lang="en" sz="1608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608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608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8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8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greater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f &gt; e;        </a:t>
            </a:r>
            <a:r>
              <a:rPr lang="en" sz="1608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true</a:t>
            </a:r>
            <a:endParaRPr sz="1608">
              <a:solidFill>
                <a:srgbClr val="656E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8">
              <a:solidFill>
                <a:srgbClr val="656E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8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less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f &lt; e;           </a:t>
            </a:r>
            <a:r>
              <a:rPr lang="en" sz="1608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false</a:t>
            </a:r>
            <a:endParaRPr sz="1608">
              <a:solidFill>
                <a:srgbClr val="656E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8">
              <a:solidFill>
                <a:srgbClr val="656E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8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greater_equal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f &gt;= e; </a:t>
            </a:r>
            <a:r>
              <a:rPr lang="en" sz="1608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true</a:t>
            </a:r>
            <a:endParaRPr sz="1608">
              <a:solidFill>
                <a:srgbClr val="656E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8">
              <a:solidFill>
                <a:srgbClr val="656E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8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less_equal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e &lt;= f;    </a:t>
            </a:r>
            <a:r>
              <a:rPr lang="en" sz="1608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true</a:t>
            </a:r>
            <a:endParaRPr sz="1608">
              <a:solidFill>
                <a:srgbClr val="656E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8">
              <a:solidFill>
                <a:srgbClr val="656E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8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equal_to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e == f;      </a:t>
            </a:r>
            <a:r>
              <a:rPr lang="en" sz="1608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false</a:t>
            </a:r>
            <a:endParaRPr sz="1608">
              <a:solidFill>
                <a:srgbClr val="656E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8">
              <a:solidFill>
                <a:srgbClr val="656E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8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not_equal_to</a:t>
            </a:r>
            <a:r>
              <a:rPr lang="en" sz="16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e != f;  </a:t>
            </a:r>
            <a:r>
              <a:rPr lang="en" sz="1608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true</a:t>
            </a:r>
            <a:endParaRPr sz="1608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Operators : </a:t>
            </a:r>
            <a:r>
              <a:rPr lang="en"/>
              <a:t>Arithmetic</a:t>
            </a:r>
            <a:endParaRPr/>
          </a:p>
        </p:txBody>
      </p: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311700" y="1266325"/>
            <a:ext cx="38571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+ b  	a</a:t>
            </a:r>
            <a:r>
              <a:rPr lang="en" sz="17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added to </a:t>
            </a:r>
            <a:r>
              <a:rPr lang="en" sz="17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7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- b		b</a:t>
            </a:r>
            <a:r>
              <a:rPr lang="en" sz="17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subtracted from </a:t>
            </a:r>
            <a:r>
              <a:rPr lang="en" sz="17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7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/ b		a</a:t>
            </a:r>
            <a:r>
              <a:rPr lang="en" sz="17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divided by </a:t>
            </a:r>
            <a:r>
              <a:rPr lang="en" sz="17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7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% b		</a:t>
            </a:r>
            <a:r>
              <a:rPr lang="en" sz="17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Gets remainder of </a:t>
            </a:r>
            <a:r>
              <a:rPr lang="en" sz="17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7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by dividing with </a:t>
            </a:r>
            <a:r>
              <a:rPr lang="en" sz="17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7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* b		a</a:t>
            </a:r>
            <a:r>
              <a:rPr lang="en" sz="17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multiplied with </a:t>
            </a:r>
            <a:r>
              <a:rPr lang="en" sz="17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7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4375975" y="1266325"/>
            <a:ext cx="44565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(a, b) = (</a:t>
            </a:r>
            <a:r>
              <a:rPr lang="en" sz="12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2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a + b;            </a:t>
            </a:r>
            <a:r>
              <a:rPr lang="en" sz="12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9</a:t>
            </a:r>
            <a:endParaRPr sz="12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subtractions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a - b;   </a:t>
            </a:r>
            <a:r>
              <a:rPr lang="en" sz="12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-1</a:t>
            </a:r>
            <a:endParaRPr sz="12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multiplication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a * b; </a:t>
            </a:r>
            <a:r>
              <a:rPr lang="en" sz="12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20</a:t>
            </a:r>
            <a:endParaRPr sz="12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division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a / b;       </a:t>
            </a:r>
            <a:r>
              <a:rPr lang="en" sz="12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0</a:t>
            </a:r>
            <a:endParaRPr sz="12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modulus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2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a % b;        </a:t>
            </a:r>
            <a:r>
              <a:rPr lang="en" sz="12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4</a:t>
            </a:r>
            <a:endParaRPr sz="1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Operators : Bitwise</a:t>
            </a:r>
            <a:endParaRPr/>
          </a:p>
        </p:txBody>
      </p:sp>
      <p:sp>
        <p:nvSpPr>
          <p:cNvPr id="183" name="Google Shape;183;p30"/>
          <p:cNvSpPr txBox="1"/>
          <p:nvPr>
            <p:ph idx="1" type="body"/>
          </p:nvPr>
        </p:nvSpPr>
        <p:spPr>
          <a:xfrm>
            <a:off x="311700" y="1266325"/>
            <a:ext cx="38571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 &amp; h			</a:t>
            </a:r>
            <a:r>
              <a:rPr lang="en" sz="14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Binary AND</a:t>
            </a:r>
            <a:endParaRPr sz="14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 | h			</a:t>
            </a:r>
            <a:r>
              <a:rPr lang="en" sz="14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Binary OR</a:t>
            </a:r>
            <a:endParaRPr sz="14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 ^ h			</a:t>
            </a:r>
            <a:r>
              <a:rPr lang="en" sz="14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Binary XOR</a:t>
            </a:r>
            <a:endParaRPr sz="14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 ~ h			</a:t>
            </a:r>
            <a:r>
              <a:rPr lang="en" sz="14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Binary one's complement</a:t>
            </a:r>
            <a:endParaRPr sz="14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 &lt;&lt; h		</a:t>
            </a:r>
            <a:r>
              <a:rPr lang="en" sz="14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Binary shift left</a:t>
            </a:r>
            <a:endParaRPr sz="14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 &gt;&gt; h		</a:t>
            </a:r>
            <a:r>
              <a:rPr lang="en" sz="14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Binary shift right</a:t>
            </a:r>
            <a:endParaRPr sz="14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4375975" y="1266325"/>
            <a:ext cx="44565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(g, h) = (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0x1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0x2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bitwise_and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g &amp; h;  </a:t>
            </a:r>
            <a:r>
              <a:rPr lang="en" sz="13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0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bitwise_or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g | h;   </a:t>
            </a:r>
            <a:r>
              <a:rPr lang="en" sz="13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3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bitwise_xor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g ^ h;  </a:t>
            </a:r>
            <a:r>
              <a:rPr lang="en" sz="13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3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right_shift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g &gt;&gt; 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3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0</a:t>
            </a:r>
            <a:endParaRPr sz="13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left_shift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h &lt;&lt; </a:t>
            </a:r>
            <a:r>
              <a:rPr lang="en" sz="13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3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r>
              <a:rPr lang="en" sz="13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32 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Operators : Logical</a:t>
            </a:r>
            <a:endParaRPr/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311700" y="1266325"/>
            <a:ext cx="38571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 &amp;&amp; d	</a:t>
            </a:r>
            <a:r>
              <a:rPr lang="en" sz="15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Both are true </a:t>
            </a:r>
            <a:r>
              <a:rPr lang="en" sz="1500">
                <a:solidFill>
                  <a:srgbClr val="55667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(AND)</a:t>
            </a:r>
            <a:endParaRPr sz="1500">
              <a:solidFill>
                <a:srgbClr val="55667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5667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 || d	</a:t>
            </a:r>
            <a:r>
              <a:rPr lang="en" sz="15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Either is true </a:t>
            </a:r>
            <a:r>
              <a:rPr lang="en" sz="1500">
                <a:solidFill>
                  <a:srgbClr val="55667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(OR)</a:t>
            </a:r>
            <a:endParaRPr sz="1500">
              <a:solidFill>
                <a:srgbClr val="55667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!c	c</a:t>
            </a:r>
            <a:r>
              <a:rPr lang="en" sz="15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false </a:t>
            </a:r>
            <a:r>
              <a:rPr lang="en" sz="1500">
                <a:solidFill>
                  <a:srgbClr val="55667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(NOT)</a:t>
            </a:r>
            <a:endParaRPr sz="1500">
              <a:solidFill>
                <a:srgbClr val="55667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4375800" y="1266325"/>
            <a:ext cx="44565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(c, d) = (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4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c &amp;&amp; d;  </a:t>
            </a:r>
            <a:r>
              <a:rPr lang="en" sz="14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false</a:t>
            </a:r>
            <a:endParaRPr sz="14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= c || d;  </a:t>
            </a:r>
            <a:r>
              <a:rPr lang="en" sz="14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true</a:t>
            </a:r>
            <a:endParaRPr sz="14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" sz="14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!c;      </a:t>
            </a:r>
            <a:r>
              <a:rPr lang="en" sz="14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false</a:t>
            </a:r>
            <a:endParaRPr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Operators : Compound Assignment</a:t>
            </a:r>
            <a:endParaRPr/>
          </a:p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311700" y="1266325"/>
            <a:ext cx="38571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5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5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5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n" sz="15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k;</a:t>
            </a:r>
            <a:endParaRPr sz="2200"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4375975" y="1266325"/>
            <a:ext cx="44565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 += l	</a:t>
            </a:r>
            <a:r>
              <a:rPr lang="en" sz="15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Add a value and assign, then k=9</a:t>
            </a:r>
            <a:endParaRPr sz="15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 -= l	</a:t>
            </a:r>
            <a:r>
              <a:rPr lang="en" sz="15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Substrate a value and assign, then k=18</a:t>
            </a:r>
            <a:endParaRPr sz="15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 /= l	</a:t>
            </a:r>
            <a:r>
              <a:rPr lang="en" sz="15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Divide a value and assign, then k=9</a:t>
            </a:r>
            <a:endParaRPr sz="15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 *= l	</a:t>
            </a:r>
            <a:r>
              <a:rPr lang="en" sz="15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Multiply a value and assign, then k=81</a:t>
            </a:r>
            <a:endParaRPr sz="15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5966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5966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 |= l	</a:t>
            </a:r>
            <a:r>
              <a:rPr lang="en" sz="1500">
                <a:solidFill>
                  <a:srgbClr val="3344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Bitwise OR and assign, then k=89</a:t>
            </a:r>
            <a:endParaRPr sz="1500">
              <a:solidFill>
                <a:srgbClr val="3344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Control : If, If-else , if - else if -else</a:t>
            </a:r>
            <a:endParaRPr/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311700" y="1266325"/>
            <a:ext cx="27252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case1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case2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case1 &lt; case2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"case1 is greater than case2"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3119625" y="1266325"/>
            <a:ext cx="27252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case3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case4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case3 &gt;= case4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"case3 is better than case4"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"case4 is greater than case3"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5927550" y="1266325"/>
            <a:ext cx="29049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foo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foo == bar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"foo is equal to bar"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foo &lt; bar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"foo less than bar"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foo != bar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"foo is not equal to bar"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"Nothing"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Control : If, If-else , if - else if -else</a:t>
            </a:r>
            <a:endParaRPr/>
          </a:p>
        </p:txBody>
      </p:sp>
      <p:sp>
        <p:nvSpPr>
          <p:cNvPr id="212" name="Google Shape;212;p34"/>
          <p:cNvSpPr txBox="1"/>
          <p:nvPr>
            <p:ph idx="1" type="body"/>
          </p:nvPr>
        </p:nvSpPr>
        <p:spPr>
          <a:xfrm>
            <a:off x="311700" y="1266325"/>
            <a:ext cx="27252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case1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case2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case1 &lt; case2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"case1 is greater than case2"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3119625" y="1266325"/>
            <a:ext cx="27252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case3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case4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case3 &gt;= case4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"case3 is better than case4"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"case4 is greater than case3"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5927550" y="1266325"/>
            <a:ext cx="29049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foo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foo == bar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"foo is equal to bar"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foo &lt; bar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"foo less than bar"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foo != bar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"foo is not equal to bar"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"Nothing"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If…  If.. Let </a:t>
            </a:r>
            <a:endParaRPr/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311700" y="1046125"/>
            <a:ext cx="3236100" cy="3909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8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8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nested_conditions</a:t>
            </a: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308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89</a:t>
            </a: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8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8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nested_conditions == </a:t>
            </a:r>
            <a:r>
              <a:rPr lang="en" sz="1308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89</a:t>
            </a: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08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308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8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just_a_value</a:t>
            </a: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308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98</a:t>
            </a: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8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308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just_a_value &gt;= </a:t>
            </a:r>
            <a:r>
              <a:rPr lang="en" sz="1308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97</a:t>
            </a: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08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308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8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"Greater than 97"</a:t>
            </a: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8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308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8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5"/>
          <p:cNvSpPr txBox="1"/>
          <p:nvPr/>
        </p:nvSpPr>
        <p:spPr>
          <a:xfrm>
            <a:off x="3630550" y="1062925"/>
            <a:ext cx="5066100" cy="390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:[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i64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;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,_] = arr1{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"Works with array"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:[&amp;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"one"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"two"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"Apple"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_] = arr2{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"Works with str array too"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tuple_1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"India"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90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90.432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(_,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78.99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= tuple_1{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"Works with tuples too"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);}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tuple_2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(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"Okay"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blank) = tuple_2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"Everything {blank} mate?"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);}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tuple_3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90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"Yes"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"Yes"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= tuple_3{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"Pattern did match"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);}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"Pattern did not match"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Loop, For, While,Break</a:t>
            </a:r>
            <a:endParaRPr/>
          </a:p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311700" y="1266325"/>
            <a:ext cx="24990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 is {i}"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 &gt;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i *=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2921275" y="1266325"/>
            <a:ext cx="26418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i-=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"The value of i is : {i}"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1569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5673575" y="1266325"/>
            <a:ext cx="29829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check &lt;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"Check is : {check}"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check+=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"After incrementing: {check}"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check ==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10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stop while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and Match Expressions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311700" y="1266325"/>
            <a:ext cx="3318900" cy="3537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(v, c)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enumerate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"The {c} number loop"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v ==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"Here we go continue?"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"The value of v is : {v}"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 flipH="1">
            <a:off x="3768600" y="1266325"/>
            <a:ext cx="5063700" cy="3537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0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day_of_week</a:t>
            </a: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20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20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match</a:t>
            </a: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day_of_week {</a:t>
            </a:r>
            <a:endParaRPr sz="120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{</a:t>
            </a:r>
            <a:endParaRPr sz="120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120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"Its Monday my dudes"</a:t>
            </a: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},</a:t>
            </a:r>
            <a:endParaRPr sz="120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20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{</a:t>
            </a:r>
            <a:endParaRPr sz="120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120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"It's Sunday my dudes"</a:t>
            </a: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},</a:t>
            </a:r>
            <a:endParaRPr sz="120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_ =&gt; {</a:t>
            </a:r>
            <a:endParaRPr sz="120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120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"Default!"</a:t>
            </a:r>
            <a:r>
              <a:rPr lang="en" sz="120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)}};}</a:t>
            </a:r>
            <a:endParaRPr sz="120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Functions: Pass By Value, Pass By References</a:t>
            </a:r>
            <a:endParaRPr/>
          </a:p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311700" y="1266325"/>
            <a:ext cx="3940200" cy="3592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37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7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sz="137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7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7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37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u32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37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7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7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7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37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u32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37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7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70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200</a:t>
            </a:r>
            <a:endParaRPr sz="137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7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7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"Calc: {}"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37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cal_rect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(x, y));</a:t>
            </a:r>
            <a:endParaRPr sz="137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7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7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7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cal_rect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(x:</a:t>
            </a:r>
            <a:r>
              <a:rPr lang="en" sz="137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u32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y:</a:t>
            </a:r>
            <a:r>
              <a:rPr lang="en" sz="137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u32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-&gt; </a:t>
            </a:r>
            <a:r>
              <a:rPr lang="en" sz="137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u32</a:t>
            </a: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7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x * y</a:t>
            </a:r>
            <a:endParaRPr sz="137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" sz="137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60"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4362175" y="1266325"/>
            <a:ext cx="4470300" cy="3592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2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sz="12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2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23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by_ref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2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     </a:t>
            </a:r>
            <a:r>
              <a:rPr lang="en" sz="1235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3</a:t>
            </a:r>
            <a:endParaRPr sz="12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2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power_of_three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lang="en" sz="12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by_ref);</a:t>
            </a:r>
            <a:endParaRPr sz="12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2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3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"{by_ref}"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 </a:t>
            </a:r>
            <a:r>
              <a:rPr lang="en" sz="1235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9</a:t>
            </a:r>
            <a:endParaRPr sz="12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2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power_of_three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(by_ref: &amp;</a:t>
            </a:r>
            <a:r>
              <a:rPr lang="en" sz="12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12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235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de-referencing is important</a:t>
            </a:r>
            <a:endParaRPr sz="12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*by_ref = *by_ref * *by_ref;</a:t>
            </a:r>
            <a:endParaRPr sz="12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2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3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"{by_ref}"</a:t>
            </a: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 </a:t>
            </a:r>
            <a:r>
              <a:rPr lang="en" sz="1235">
                <a:solidFill>
                  <a:srgbClr val="656E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=&gt; 9</a:t>
            </a:r>
            <a:endParaRPr sz="12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2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29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: Returning as Arrays as argument and Array</a:t>
            </a:r>
            <a:endParaRPr/>
          </a:p>
        </p:txBody>
      </p:sp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311700" y="1266325"/>
            <a:ext cx="3719100" cy="3620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;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print_arrays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(array);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"The elements: {array:?}"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print_arrays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array:[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 { array[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89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array[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90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;array[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91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array[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92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;array[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93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"The elements: {array:?}"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50" name="Google Shape;250;p39"/>
          <p:cNvSpPr txBox="1"/>
          <p:nvPr>
            <p:ph idx="1" type="body"/>
          </p:nvPr>
        </p:nvSpPr>
        <p:spPr>
          <a:xfrm>
            <a:off x="4182725" y="1266325"/>
            <a:ext cx="4649700" cy="3620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1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sz="11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13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:[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1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multiply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(arr);</a:t>
            </a:r>
            <a:endParaRPr sz="11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35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"The array is : {:?}"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multiply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(arr));</a:t>
            </a:r>
            <a:endParaRPr sz="11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1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multiply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1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arr: [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; 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 -&gt; [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i32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; 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]{</a:t>
            </a:r>
            <a:endParaRPr sz="11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arr[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90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1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arr[i] = arr[i] * arr[</a:t>
            </a:r>
            <a:r>
              <a:rPr lang="en" sz="1135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 }</a:t>
            </a:r>
            <a:endParaRPr sz="11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35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arr;</a:t>
            </a:r>
            <a:endParaRPr sz="1135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135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29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Returns : multiple params</a:t>
            </a:r>
            <a:endParaRPr/>
          </a:p>
        </p:txBody>
      </p:sp>
      <p:sp>
        <p:nvSpPr>
          <p:cNvPr id="256" name="Google Shape;256;p40"/>
          <p:cNvSpPr txBox="1"/>
          <p:nvPr>
            <p:ph idx="1" type="body"/>
          </p:nvPr>
        </p:nvSpPr>
        <p:spPr>
          <a:xfrm>
            <a:off x="311700" y="1266325"/>
            <a:ext cx="8520600" cy="3579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radius,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pi) = (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3.0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3.14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(area, _perimeter)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calculate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&amp;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radius,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&amp;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pi);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"The area and the perimeter of the circle are: {area} &amp; {_perimeter}"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calculate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(radius : &amp;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f64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pi: &amp;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f64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-&gt; (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f64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f64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perimeter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2.0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 *pi * *radius;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01569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54790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area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*pi * *radius * *radius;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>
                <a:solidFill>
                  <a:srgbClr val="B7550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(area, perimeter);</a:t>
            </a:r>
            <a:endParaRPr sz="1100">
              <a:solidFill>
                <a:srgbClr val="2F333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F33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Casting, Borrowing</a:t>
            </a:r>
            <a:endParaRPr/>
          </a:p>
        </p:txBody>
      </p:sp>
      <p:sp>
        <p:nvSpPr>
          <p:cNvPr id="262" name="Google Shape;262;p41"/>
          <p:cNvSpPr txBox="1"/>
          <p:nvPr>
            <p:ph idx="1" type="body"/>
          </p:nvPr>
        </p:nvSpPr>
        <p:spPr>
          <a:xfrm>
            <a:off x="311700" y="1266325"/>
            <a:ext cx="3815700" cy="3634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a_int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3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90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300">
                <a:solidFill>
                  <a:srgbClr val="656E77"/>
                </a:solidFill>
                <a:latin typeface="Courier New"/>
                <a:ea typeface="Courier New"/>
                <a:cs typeface="Courier New"/>
                <a:sym typeface="Courier New"/>
              </a:rPr>
              <a:t>// int</a:t>
            </a:r>
            <a:endParaRPr sz="13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56E77"/>
                </a:solidFill>
                <a:latin typeface="Courier New"/>
                <a:ea typeface="Courier New"/>
                <a:cs typeface="Courier New"/>
                <a:sym typeface="Courier New"/>
              </a:rPr>
              <a:t>// int to float</a:t>
            </a:r>
            <a:endParaRPr sz="13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3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type_cast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(a_int </a:t>
            </a:r>
            <a:r>
              <a:rPr lang="en" sz="13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f64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orginal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3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3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'I'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56E77"/>
                </a:solidFill>
                <a:latin typeface="Courier New"/>
                <a:ea typeface="Courier New"/>
                <a:cs typeface="Courier New"/>
                <a:sym typeface="Courier New"/>
              </a:rPr>
              <a:t>// char to int =&gt; 73</a:t>
            </a:r>
            <a:endParaRPr sz="13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type_casted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3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i64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orginal </a:t>
            </a:r>
            <a:r>
              <a:rPr lang="en" sz="13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i64</a:t>
            </a:r>
            <a:r>
              <a:rPr lang="en" sz="13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To perform type-casting in Rust one must use the </a:t>
            </a:r>
            <a:r>
              <a:rPr lang="en" sz="1300">
                <a:solidFill>
                  <a:srgbClr val="059669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3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 keyword.</a:t>
            </a:r>
            <a:endParaRPr sz="1300">
              <a:solidFill>
                <a:srgbClr val="334455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1"/>
          <p:cNvSpPr txBox="1"/>
          <p:nvPr>
            <p:ph idx="1" type="body"/>
          </p:nvPr>
        </p:nvSpPr>
        <p:spPr>
          <a:xfrm>
            <a:off x="4237925" y="1266325"/>
            <a:ext cx="4458900" cy="3634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2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foo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2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2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borrowed_foo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&amp;foo;</a:t>
            </a:r>
            <a:endParaRPr sz="12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"{borrowed_foo}"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2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2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2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mutable_borrowed_bar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&amp;</a:t>
            </a:r>
            <a:r>
              <a:rPr lang="en" sz="12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bar;</a:t>
            </a:r>
            <a:endParaRPr sz="12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"{mutable_borrowed_bar}"</a:t>
            </a:r>
            <a:r>
              <a:rPr lang="en" sz="12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Here borrowed value borrows the value from value one using </a:t>
            </a:r>
            <a:r>
              <a:rPr lang="en" sz="1200">
                <a:solidFill>
                  <a:srgbClr val="059669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12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 operator.</a:t>
            </a:r>
            <a:endParaRPr sz="1200">
              <a:solidFill>
                <a:srgbClr val="334455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De-referencing</a:t>
            </a:r>
            <a:r>
              <a:rPr lang="en"/>
              <a:t>, Variable Scope</a:t>
            </a:r>
            <a:endParaRPr/>
          </a:p>
        </p:txBody>
      </p:sp>
      <p:sp>
        <p:nvSpPr>
          <p:cNvPr id="269" name="Google Shape;269;p42"/>
          <p:cNvSpPr txBox="1"/>
          <p:nvPr>
            <p:ph idx="1" type="body"/>
          </p:nvPr>
        </p:nvSpPr>
        <p:spPr>
          <a:xfrm>
            <a:off x="311700" y="1266325"/>
            <a:ext cx="3815700" cy="3634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mut </a:t>
            </a:r>
            <a:r>
              <a:rPr lang="en" sz="17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borrow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7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deref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&amp;</a:t>
            </a:r>
            <a:r>
              <a:rPr lang="en" sz="17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mut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borrow;</a:t>
            </a:r>
            <a:endParaRPr sz="17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7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"{}"</a:t>
            </a:r>
            <a:r>
              <a:rPr lang="en" sz="17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, *deref);</a:t>
            </a:r>
            <a:endParaRPr sz="17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De-referencing in rust can be done using the </a:t>
            </a:r>
            <a:r>
              <a:rPr lang="en" sz="1700">
                <a:solidFill>
                  <a:srgbClr val="059669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7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 operator</a:t>
            </a:r>
            <a:endParaRPr sz="1700">
              <a:solidFill>
                <a:srgbClr val="334455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42"/>
          <p:cNvSpPr txBox="1"/>
          <p:nvPr>
            <p:ph idx="1" type="body"/>
          </p:nvPr>
        </p:nvSpPr>
        <p:spPr>
          <a:xfrm>
            <a:off x="4237925" y="1266325"/>
            <a:ext cx="4458900" cy="3634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400">
                <a:solidFill>
                  <a:srgbClr val="656E77"/>
                </a:solidFill>
                <a:latin typeface="Courier New"/>
                <a:ea typeface="Courier New"/>
                <a:cs typeface="Courier New"/>
                <a:sym typeface="Courier New"/>
              </a:rPr>
              <a:t>// The scope limited to this braces</a:t>
            </a:r>
            <a:endParaRPr sz="14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400">
                <a:solidFill>
                  <a:srgbClr val="015692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4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a_number</a:t>
            </a:r>
            <a:r>
              <a:rPr lang="en" sz="14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4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4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B75501"/>
                </a:solidFill>
                <a:latin typeface="Courier New"/>
                <a:ea typeface="Courier New"/>
                <a:cs typeface="Courier New"/>
                <a:sym typeface="Courier New"/>
              </a:rPr>
              <a:t>println!</a:t>
            </a:r>
            <a:r>
              <a:rPr lang="en" sz="14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400">
                <a:solidFill>
                  <a:srgbClr val="54790D"/>
                </a:solidFill>
                <a:latin typeface="Courier New"/>
                <a:ea typeface="Courier New"/>
                <a:cs typeface="Courier New"/>
                <a:sym typeface="Courier New"/>
              </a:rPr>
              <a:t>"{a_number}"</a:t>
            </a:r>
            <a:r>
              <a:rPr lang="en" sz="1400">
                <a:solidFill>
                  <a:srgbClr val="2F333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F333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This will produce error as the scope of the variable </a:t>
            </a:r>
            <a:r>
              <a:rPr lang="en" sz="1400">
                <a:solidFill>
                  <a:srgbClr val="059669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a_number</a:t>
            </a:r>
            <a:r>
              <a:rPr lang="en" sz="1400">
                <a:solidFill>
                  <a:srgbClr val="334455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 ends at the braces</a:t>
            </a:r>
            <a:endParaRPr sz="1400">
              <a:solidFill>
                <a:srgbClr val="334455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